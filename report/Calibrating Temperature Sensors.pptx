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3" r:id="rId13"/>
    <p:sldId id="265" r:id="rId27"/>
    <p:sldId id="264" r:id="rId14"/>
    <p:sldId id="262" r:id="rId12"/>
    <p:sldId id="266" r:id="rId28"/>
    <p:sldId id="267" r:id="rId29"/>
    <p:sldId id="268" r:id="rId30"/>
    <p:sldId id="269" r:id="rId31"/>
    <p:sldId id="270" r:id="rId32"/>
  </p:sldIdLst>
  <p:sldSz cy="5143500" cx="9144000"/>
  <p:notesSz cx="6858000" cy="9144000"/>
  <p:embeddedFontLst>
    <p:embeddedFont>
      <p:font typeface="IBM Plex Sans"/>
      <p:regular r:id="rId15"/>
      <p:bold r:id="rId16"/>
      <p:italic r:id="rId17"/>
      <p:boldItalic r:id="rId18"/>
    </p:embeddedFont>
    <p:embeddedFont>
      <p:font typeface="IBM Plex Sans Light"/>
      <p:regular r:id="rId19"/>
      <p:bold r:id="rId20"/>
      <p:italic r:id="rId21"/>
      <p:boldItalic r:id="rId22"/>
    </p:embeddedFont>
    <p:embeddedFont>
      <p:font typeface="IBM Plex Sans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font" Target="fonts/IBMPlexSans-regular.fntdata"/><Relationship Id="rId16" Type="http://schemas.openxmlformats.org/officeDocument/2006/relationships/font" Target="fonts/IBMPlexSans-bold.fntdata"/><Relationship Id="rId17" Type="http://schemas.openxmlformats.org/officeDocument/2006/relationships/font" Target="fonts/IBMPlexSans-italic.fntdata"/><Relationship Id="rId18" Type="http://schemas.openxmlformats.org/officeDocument/2006/relationships/font" Target="fonts/IBMPlexSans-boldItalic.fntdata"/><Relationship Id="rId19" Type="http://schemas.openxmlformats.org/officeDocument/2006/relationships/font" Target="fonts/IBMPlexSansLight-regular.fntdata"/><Relationship Id="rId20" Type="http://schemas.openxmlformats.org/officeDocument/2006/relationships/font" Target="fonts/IBMPlexSansLight-bold.fntdata"/><Relationship Id="rId21" Type="http://schemas.openxmlformats.org/officeDocument/2006/relationships/font" Target="fonts/IBMPlexSansLight-italic.fntdata"/><Relationship Id="rId22" Type="http://schemas.openxmlformats.org/officeDocument/2006/relationships/font" Target="fonts/IBMPlexSansLight-boldItalic.fntdata"/><Relationship Id="rId23" Type="http://schemas.openxmlformats.org/officeDocument/2006/relationships/font" Target="fonts/IBMPlexSansMedium-regular.fntdata"/><Relationship Id="rId24" Type="http://schemas.openxmlformats.org/officeDocument/2006/relationships/font" Target="fonts/IBMPlexSansMedium-bold.fntdata"/><Relationship Id="rId25" Type="http://schemas.openxmlformats.org/officeDocument/2006/relationships/font" Target="fonts/IBMPlexSansMedium-italic.fntdata"/><Relationship Id="rId26" Type="http://schemas.openxmlformats.org/officeDocument/2006/relationships/font" Target="fonts/IBMPlexSansMedium-boldItalic.fntdata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46748ff40cbff6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h46748ff40cbff6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46748ff40cbff6fd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h46748ff40cbff6fd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h46748ff40cbff6fd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h46748ff40cbff6fd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Goal: calibrate an NTC thermistor against the DS18B20 (reference, ±0.5 °C), then measure how fast the thermistor responds. The DS18B20 talks over 1-Wire: one data pin plus ground; the data pin is open-drain.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46748ff40cbff6fd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h46748ff40cbff6fd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NTC + fixed resistor form a voltage divider read by the Arduino ADC (10-bit, 0-1023). The 3.3 kOhm value is as stated on the slide; confirm it against the lab sheet before presenting.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46748ff40cbff6fd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h46748ff40cbff6fd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Three valid runs were used for calibration (1 heating, 2 cooling); other runs had a stuck ADC channel. The response-time test is a separate step test: room-temperature water to ice bath and back.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h46748ff40cbff6fd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h46748ff40cbff6fd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Outliers are points more than 2.5 standard deviations (1.38 °C) from the cooling fit. Data audit: heating 1079 logged -&gt; 1078 used; cooling 4252 logged -&gt; 4241 used.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h46748ff40cbff6fd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h46748ff40cbff6fd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Compared the heating and cooling cubic fits over the shared ADC range 309-849: max gap 1.163 °C (1.16 % of full scale), mean 0.608 °C. Causes: (1) different thermal time constants of the NTC bead and the reference probe; (2) the difference of two cubics is always a smooth wave crossing zero (near ADC 500), so part of it is a maths effect; (3) bath gradients if stirring is poor. The mean gap is smaller than the reference uncertainty.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h46748ff40cbff6fd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h46748ff40cbff6fd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Degree 1-3 polynomials were fitted to T vs ADC. The cubic cuts the straight-line S-shaped error (up to about 4 °C) to an RMSE of about 0.5 °C. Global fit: R² = 0.999, RMSE 0.54 °C. The 95 % prediction band is a rough guide: residuals are correlated in time (Durbin-Watson ~0.02), so the quoted standard errors are too small. Do not use the cubic outside 0-98 °C.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h46748ff40cbff6fd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h46748ff40cbff6fd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Left: linearised Arrhenius plot with the straight-line fit. Right: predicted vs reference temperature (RMSE 0.598 °C). Two parameters (beta and r0) versus four for the cubic.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Because the ADC reference is the supply rail, the reading is ratiometric: ADC = 1023 * Rf / (Rntc + Rf). Rearranging gives r = (1023 - ADC)/ADC. Arrhenius: R(T) = R0 exp[beta(1/T - 1/T0)], T0 = 298.15 K, beta = Eg / 2kB. Taking ln gives a straight line in 1/T; A = 1/beta and B = -c/beta give the formula used in the logger.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Ranges from the notebook: cubic 0.102-0.195 °C/count, beta-model 0.101-0.245 °C/count. This plot was redrawn for the slide from the fitted coefficients (cubic and beta-model) with larger fonts; minimum/maximum agree with the notebook output. One ADC count is the smallest step the logger can resolve, so this is also the quantisation step in °C.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Response log from the second configuration. Anomaly: one spike at t = 495.8 s removed. The first cycle and the last, unfinished piece were dropped, leaving 3 periods (top = room, bottom = ice). Red = room-temperature plateau, blue = ice plateau, green = transition. The model is Newton's law of cooling with a delay: flat until t0, then exponential.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Pooled fit: one tau, start and end temperature shared by the 3 periods, own delay per period. Cubic calibration: heating tau = 3.54 s (jackknife SE 0.32 s), cooling tau = 7.66 s (SE 2.17 s). beta-model: 3.32 s and 8.61 s. 10-90 % times 7.78 s and 16.83 s. The heating fit is good; the cooling fit leaves systematic residuals (up to a few degrees near the start) and a larger uncertainty, so treat 7.7 s as approximate. The standard errors come from leaving one of only 3 periods out. We did not test why cooling is slower.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Reference: DS18B20 spec is ±0.5 °C (-10 to +85 °C); the report assumes about ±1 °C in practice. ADC step: the sensitivity dT/dADC (0.10-0.25 °C per count) is the quantisation step. Fit: Durbin-Watson ~0.02 for cooling, so standard errors are too small; the 95 % prediction band is a rough guide. Process: apparent hysteresis up to 1.16 °C is attributed to thermal lag/gradients. Self-heating from the divider current was not measured here. No datasheet beta value was available for a percent-error comparison.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Cubic: empirical, marginally better inside the measured range. Beta-model: physical, half the parameters; its physical basis should make it safer outside 0-98 °C, but that was not tested with our data. One calibration serves both heating and cooling because the 0.6 °C mean gap is below the reference uncertainty. Limits: 3 usable runs, 0-98 °C, reference only ±0.5 °C.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2" name="Google Shape;12;p2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" name="Google Shape;15;p2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1" name="Google Shape;21;p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26" name="Google Shape;26;p3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5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8" name="Google Shape;48;p5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" name="Google Shape;49;p5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" name="Google Shape;50;p5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" name="Google Shape;52;p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5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5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5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8" name="Google Shape;68;p6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6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0" name="Google Shape;70;p6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6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6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6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6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6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6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6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6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6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0" name="Google Shape;90;p6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1" name="Google Shape;91;p6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6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3" name="Google Shape;93;p6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4" name="Google Shape;94;p6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6" name="Google Shape;96;p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6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6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01" name="Google Shape;101;p7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05" name="Google Shape;105;p7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" name="Google Shape;106;p7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" name="Google Shape;107;p7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08" name="Google Shape;108;p7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7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0" name="Google Shape;110;p7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7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3" name="Google Shape;113;p7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7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6" name="Google Shape;116;p7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7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7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9" name="Google Shape;119;p7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7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2" name="Google Shape;122;p7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7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25" name="Google Shape;125;p7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7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7" name="Google Shape;127;p7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7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7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8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34" name="Google Shape;134;p8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42" name="Google Shape;142;p8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8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8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8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51" name="Google Shape;151;p9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52" name="Google Shape;152;p9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4" name="Google Shape;154;p9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9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" name="Google Shape;156;p9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8" name="Google Shape;158;p9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0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6" name="Google Shape;166;p10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10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0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0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0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0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10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3" name="Google Shape;173;p10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4" name="Google Shape;174;p10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5" name="Google Shape;175;p1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6" name="Google Shape;176;p1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0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0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11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2" name="Google Shape;182;p11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1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1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5" name="Google Shape;185;p1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6" name="Google Shape;186;p1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1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11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12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92" name="Google Shape;192;p12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193" name="Google Shape;193;p12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96" name="Google Shape;196;p12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12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98" name="Google Shape;198;p12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12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2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2" name="Google Shape;202;p12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3" name="Google Shape;203;p12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4" name="Google Shape;204;p12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05" name="Google Shape;205;p1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1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2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2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3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3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4" name="Google Shape;214;p13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5" name="Google Shape;215;p13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6" name="Google Shape;216;p13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3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8" name="Google Shape;218;p13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13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1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13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3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8" name="Google Shape;228;p14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14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0" name="Google Shape;230;p14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1" name="Google Shape;231;p14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14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3" name="Google Shape;233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14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14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14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8" name="Google Shape;238;p14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9" name="Google Shape;239;p14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16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16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2" name="Google Shape;252;p16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16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6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17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7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7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7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9" name="Google Shape;269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17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18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18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18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18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18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18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18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18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18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4" name="Google Shape;284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18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18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p19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19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1" name="Google Shape;291;p19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2" name="Google Shape;292;p19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3" name="Google Shape;293;p19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4" name="Google Shape;294;p19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5" name="Google Shape;295;p19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6" name="Google Shape;296;p19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97" name="Google Shape;297;p19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8" name="Google Shape;298;p19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299" name="Google Shape;299;p19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00" name="Google Shape;300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03" name="Google Shape;30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4" name="Google Shape;30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19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19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09" name="Google Shape;309;p20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0" name="Google Shape;31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12" name="Google Shape;312;p20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18" name="Google Shape;318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" name="Google Shape;320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23" name="Google Shape;323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" name="Google Shape;326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27" name="Google Shape;327;p21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28" name="Google Shape;328;p2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31" name="Google Shape;331;p21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1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3" name="Google Shape;333;p21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36" name="Google Shape;33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5" name="Google Shape;34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50" name="Google Shape;35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55" name="Google Shape;35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6" name="Google Shape;35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0" name="Google Shape;370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7" name="Google Shape;37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5" name="Google Shape;38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2" name="Google Shape;39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3" name="Google Shape;39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95" name="Google Shape;39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1" name="Google Shape;40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4" name="Google Shape;40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7" name="Google Shape;4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8" name="Google Shape;40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9" name="Google Shape;40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2" name="Google Shape;41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5" name="Google Shape;41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7" name="Google Shape;4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0" name="Google Shape;42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1" name="Google Shape;43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</p:txBody>
      </p:sp>
      <p:sp>
        <p:nvSpPr>
          <p:cNvPr id="439" name="Google Shape;439;p43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UOC - Physics Department - EIT</a:t>
            </a:r>
            <a:endParaRPr/>
          </a:p>
        </p:txBody>
      </p:sp>
      <p:sp>
        <p:nvSpPr>
          <p:cNvPr id="440" name="Google Shape;440;p43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41" name="Google Shape;441;p4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43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Kenura, Teshan, Kaveesha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4"/>
          <p:cNvSpPr txBox="1"/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48" name="Google Shape;448;p44"/>
          <p:cNvSpPr txBox="1"/>
          <p:nvPr>
            <p:ph idx="1" type="subTitle"/>
          </p:nvPr>
        </p:nvSpPr>
        <p:spPr>
          <a:xfrm>
            <a:off x="522210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&amp; Setup</a:t>
            </a:r>
            <a:endParaRPr/>
          </a:p>
        </p:txBody>
      </p:sp>
      <p:sp>
        <p:nvSpPr>
          <p:cNvPr id="449" name="Google Shape;449;p4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4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51" name="Google Shape;451;p4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</p:txBody>
      </p:sp>
      <p:sp>
        <p:nvSpPr>
          <p:cNvPr id="452" name="Google Shape;452;p44"/>
          <p:cNvSpPr txBox="1"/>
          <p:nvPr>
            <p:ph idx="4" type="subTitle"/>
          </p:nvPr>
        </p:nvSpPr>
        <p:spPr>
          <a:xfrm>
            <a:off x="5222100" y="1123625"/>
            <a:ext cx="29823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Gathering</a:t>
            </a:r>
            <a:endParaRPr/>
          </a:p>
        </p:txBody>
      </p:sp>
      <p:sp>
        <p:nvSpPr>
          <p:cNvPr id="453" name="Google Shape;453;p44"/>
          <p:cNvSpPr txBox="1"/>
          <p:nvPr>
            <p:ph idx="5" type="subTitle"/>
          </p:nvPr>
        </p:nvSpPr>
        <p:spPr>
          <a:xfrm>
            <a:off x="5222100" y="15189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4"/>
          <p:cNvSpPr txBox="1"/>
          <p:nvPr>
            <p:ph idx="6" type="subTitle"/>
          </p:nvPr>
        </p:nvSpPr>
        <p:spPr>
          <a:xfrm>
            <a:off x="5222100" y="3408538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4"/>
          <p:cNvSpPr txBox="1"/>
          <p:nvPr>
            <p:ph idx="7" type="subTitle"/>
          </p:nvPr>
        </p:nvSpPr>
        <p:spPr>
          <a:xfrm>
            <a:off x="5222100" y="3792504"/>
            <a:ext cx="347472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iscussion and conclusion</a:t>
            </a:r>
            <a:endParaRPr/>
          </a:p>
        </p:txBody>
      </p:sp>
      <p:sp>
        <p:nvSpPr>
          <p:cNvPr id="456" name="Google Shape;456;p44"/>
          <p:cNvSpPr txBox="1"/>
          <p:nvPr>
            <p:ph idx="9" type="subTitle"/>
          </p:nvPr>
        </p:nvSpPr>
        <p:spPr>
          <a:xfrm>
            <a:off x="485785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457" name="Google Shape;457;p44"/>
          <p:cNvSpPr txBox="1"/>
          <p:nvPr>
            <p:ph idx="13" type="subTitle"/>
          </p:nvPr>
        </p:nvSpPr>
        <p:spPr>
          <a:xfrm>
            <a:off x="4857850" y="11236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458" name="Google Shape;458;p44"/>
          <p:cNvSpPr txBox="1"/>
          <p:nvPr>
            <p:ph idx="14" type="subTitle"/>
          </p:nvPr>
        </p:nvSpPr>
        <p:spPr>
          <a:xfrm>
            <a:off x="4857850" y="15189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459" name="Google Shape;459;p44"/>
          <p:cNvSpPr txBox="1"/>
          <p:nvPr>
            <p:ph idx="15" type="subTitle"/>
          </p:nvPr>
        </p:nvSpPr>
        <p:spPr>
          <a:xfrm>
            <a:off x="4857850" y="3408538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460" name="Google Shape;460;p44"/>
          <p:cNvSpPr txBox="1"/>
          <p:nvPr>
            <p:ph idx="16" type="subTitle"/>
          </p:nvPr>
        </p:nvSpPr>
        <p:spPr>
          <a:xfrm>
            <a:off x="4857850" y="3792504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</p:txBody>
      </p:sp>
      <p:sp>
        <p:nvSpPr>
          <p:cNvPr id="461" name="Google Shape;461;p44"/>
          <p:cNvSpPr txBox="1"/>
          <p:nvPr>
            <p:ph idx="5" type="subTitle"/>
          </p:nvPr>
        </p:nvSpPr>
        <p:spPr>
          <a:xfrm>
            <a:off x="5577625" y="1938839"/>
            <a:ext cx="2626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Two ways to approach the solution</a:t>
            </a:r>
            <a:endParaRPr sz="1200"/>
          </a:p>
        </p:txBody>
      </p:sp>
      <p:sp>
        <p:nvSpPr>
          <p:cNvPr id="462" name="Google Shape;462;p44"/>
          <p:cNvSpPr txBox="1"/>
          <p:nvPr>
            <p:ph idx="14" type="subTitle"/>
          </p:nvPr>
        </p:nvSpPr>
        <p:spPr>
          <a:xfrm>
            <a:off x="5213375" y="1938839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3.1.</a:t>
            </a:r>
            <a:endParaRPr sz="1200"/>
          </a:p>
        </p:txBody>
      </p:sp>
      <p:sp>
        <p:nvSpPr>
          <p:cNvPr id="463" name="Google Shape;463;p44"/>
          <p:cNvSpPr txBox="1"/>
          <p:nvPr>
            <p:ph idx="5" type="subTitle"/>
          </p:nvPr>
        </p:nvSpPr>
        <p:spPr>
          <a:xfrm>
            <a:off x="5586350" y="2322200"/>
            <a:ext cx="26268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Hysteresis?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4" name="Google Shape;464;p44"/>
          <p:cNvSpPr txBox="1"/>
          <p:nvPr>
            <p:ph idx="14" type="subTitle"/>
          </p:nvPr>
        </p:nvSpPr>
        <p:spPr>
          <a:xfrm>
            <a:off x="5222100" y="2322188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3.2.</a:t>
            </a:r>
            <a:endParaRPr sz="1200"/>
          </a:p>
        </p:txBody>
      </p:sp>
      <p:sp>
        <p:nvSpPr>
          <p:cNvPr id="465" name="Google Shape;465;p44"/>
          <p:cNvSpPr txBox="1"/>
          <p:nvPr>
            <p:ph idx="5" type="subTitle"/>
          </p:nvPr>
        </p:nvSpPr>
        <p:spPr>
          <a:xfrm>
            <a:off x="5586350" y="2701163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Sensitivity</a:t>
            </a:r>
            <a:endParaRPr sz="1200"/>
          </a:p>
        </p:txBody>
      </p:sp>
      <p:sp>
        <p:nvSpPr>
          <p:cNvPr id="466" name="Google Shape;466;p44"/>
          <p:cNvSpPr txBox="1"/>
          <p:nvPr>
            <p:ph idx="14" type="subTitle"/>
          </p:nvPr>
        </p:nvSpPr>
        <p:spPr>
          <a:xfrm>
            <a:off x="5222100" y="2701163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3.3.</a:t>
            </a:r>
            <a:endParaRPr sz="1200"/>
          </a:p>
        </p:txBody>
      </p:sp>
      <p:sp>
        <p:nvSpPr>
          <p:cNvPr id="467" name="Google Shape;467;p44"/>
          <p:cNvSpPr txBox="1"/>
          <p:nvPr>
            <p:ph idx="5" type="subTitle"/>
          </p:nvPr>
        </p:nvSpPr>
        <p:spPr>
          <a:xfrm>
            <a:off x="5586350" y="3080150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Response Time</a:t>
            </a:r>
            <a:endParaRPr sz="1200"/>
          </a:p>
        </p:txBody>
      </p:sp>
      <p:sp>
        <p:nvSpPr>
          <p:cNvPr id="468" name="Google Shape;468;p44"/>
          <p:cNvSpPr txBox="1"/>
          <p:nvPr>
            <p:ph idx="14" type="subTitle"/>
          </p:nvPr>
        </p:nvSpPr>
        <p:spPr>
          <a:xfrm>
            <a:off x="5222100" y="3080150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3.4.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474" name="Google Shape;474;p45"/>
          <p:cNvSpPr txBox="1"/>
          <p:nvPr>
            <p:ph type="title"/>
          </p:nvPr>
        </p:nvSpPr>
        <p:spPr>
          <a:xfrm>
            <a:off x="2659075" y="1755300"/>
            <a:ext cx="38496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Calibration of an NTC using a DS18B20, which is a pre-calibrated temperature sensor.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The DS18B20 has 3 pins. Its digital output pin uses an open-drain architecture.</a:t>
            </a:r>
          </a:p>
        </p:txBody>
      </p:sp>
      <p:sp>
        <p:nvSpPr>
          <p:cNvPr id="475" name="Google Shape;475;p4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45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</p:txBody>
      </p:sp>
      <p:sp>
        <p:nvSpPr>
          <p:cNvPr id="477" name="Google Shape;477;p45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</a:t>
            </a:r>
            <a:r>
              <a:rPr lang="en"/>
              <a:t> Temperature Sensors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/>
          <p:nvPr>
            <p:ph idx="1" type="subTitle"/>
          </p:nvPr>
        </p:nvSpPr>
        <p:spPr>
          <a:xfrm>
            <a:off x="436850" y="2053200"/>
            <a:ext cx="2347200" cy="256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circuit is a simple voltage divider with the NTC connected on one side of the GND.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3.3 kΩ resistor is used to keep the output within the measurable range.</a:t>
            </a:r>
            <a:endParaRPr sz="1600"/>
          </a:p>
        </p:txBody>
      </p:sp>
      <p:sp>
        <p:nvSpPr>
          <p:cNvPr id="483" name="Google Shape;483;p46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</a:t>
            </a:r>
            <a:endParaRPr/>
          </a:p>
        </p:txBody>
      </p:sp>
      <p:sp>
        <p:nvSpPr>
          <p:cNvPr id="484" name="Google Shape;484;p46"/>
          <p:cNvSpPr txBox="1"/>
          <p:nvPr>
            <p:ph idx="2" type="subTitle"/>
          </p:nvPr>
        </p:nvSpPr>
        <p:spPr>
          <a:xfrm>
            <a:off x="3547650" y="2114525"/>
            <a:ext cx="2144400" cy="256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2.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Both the DS18B20 and the NTC are immersed in a water bath, close together.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The bath is continuously stirred.</a:t>
            </a:r>
          </a:p>
        </p:txBody>
      </p:sp>
      <p:sp>
        <p:nvSpPr>
          <p:cNvPr id="485" name="Google Shape;485;p46"/>
          <p:cNvSpPr txBox="1"/>
          <p:nvPr>
            <p:ph idx="3" type="subTitle"/>
          </p:nvPr>
        </p:nvSpPr>
        <p:spPr>
          <a:xfrm>
            <a:off x="6475350" y="2114525"/>
            <a:ext cx="2291400" cy="256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3.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Middle node of the voltage divider setup is connected to an Arduino ADC pin.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data wire of the </a:t>
            </a:r>
            <a:r>
              <a:rPr lang="en" sz="1600"/>
              <a:t>DS18B20 is connected to a digital pin.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86" name="Google Shape;486;p4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9" name="Google Shape;489;p46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46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6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7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497" name="Google Shape;497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9" name="Google Shape;499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0" name="Google Shape;500;p47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501" name="Google Shape;501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2" name="Google Shape;502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4" name="Google Shape;504;p47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505" name="Google Shape;505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8" name="Google Shape;508;p47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509" name="Google Shape;509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2" name="Google Shape;512;p47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513" name="Google Shape;513;p47"/>
          <p:cNvSpPr txBox="1"/>
          <p:nvPr>
            <p:ph type="title"/>
          </p:nvPr>
        </p:nvSpPr>
        <p:spPr>
          <a:xfrm>
            <a:off x="436725" y="1231825"/>
            <a:ext cx="2301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Gathering</a:t>
            </a:r>
            <a:endParaRPr/>
          </a:p>
        </p:txBody>
      </p:sp>
      <p:sp>
        <p:nvSpPr>
          <p:cNvPr id="514" name="Google Shape;514;p47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Sample Gathering</a:t>
            </a:r>
            <a:endParaRPr/>
          </a:p>
        </p:txBody>
      </p:sp>
      <p:sp>
        <p:nvSpPr>
          <p:cNvPr id="515" name="Google Shape;515;p47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Three setups: 3 × DS18B20 and 3 × NTC at 3 random positions in the same water bath.</a:t>
            </a:r>
            <a:endParaRPr sz="1200"/>
          </a:p>
        </p:txBody>
      </p:sp>
      <p:sp>
        <p:nvSpPr>
          <p:cNvPr id="516" name="Google Shape;516;p47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Treatments</a:t>
            </a:r>
            <a:endParaRPr/>
          </a:p>
        </p:txBody>
      </p:sp>
      <p:sp>
        <p:nvSpPr>
          <p:cNvPr id="517" name="Google Shape;517;p47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Ice cooled the bath; a hot plate heated it. Each member monitored the 3 device pairs.</a:t>
            </a:r>
            <a:endParaRPr sz="1200"/>
          </a:p>
        </p:txBody>
      </p:sp>
      <p:sp>
        <p:nvSpPr>
          <p:cNvPr id="518" name="Google Shape;518;p47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Monitoring</a:t>
            </a:r>
            <a:endParaRPr/>
          </a:p>
        </p:txBody>
      </p:sp>
      <p:sp>
        <p:nvSpPr>
          <p:cNvPr id="519" name="Google Shape;519;p47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Temperature vs time and vs raw ADC were plotted. Each run was saved as a log and a CSV.</a:t>
            </a:r>
            <a:endParaRPr sz="1200"/>
          </a:p>
        </p:txBody>
      </p:sp>
      <p:sp>
        <p:nvSpPr>
          <p:cNvPr id="520" name="Google Shape;520;p47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Response Time</a:t>
            </a:r>
            <a:endParaRPr/>
          </a:p>
        </p:txBody>
      </p:sp>
      <p:sp>
        <p:nvSpPr>
          <p:cNvPr id="521" name="Google Shape;521;p47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NTC moved from a room-temperature bath to an ice bath until 0 °C, then back.</a:t>
            </a:r>
            <a:endParaRPr sz="1200"/>
          </a:p>
        </p:txBody>
      </p:sp>
      <p:sp>
        <p:nvSpPr>
          <p:cNvPr id="522" name="Google Shape;522;p4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47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7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8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Data used</a:t>
            </a:r>
            <a:endParaRPr/>
          </a:p>
        </p:txBody>
      </p:sp>
      <p:sp>
        <p:nvSpPr>
          <p:cNvPr id="530" name="Google Shape;530;p48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31" name="Google Shape;531;p48"/>
          <p:cNvSpPr txBox="1"/>
          <p:nvPr>
            <p:ph type="title"/>
          </p:nvPr>
        </p:nvSpPr>
        <p:spPr>
          <a:xfrm>
            <a:off x="436725" y="1231825"/>
            <a:ext cx="4182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Two ways to approach the solution</a:t>
            </a:r>
            <a:endParaRPr/>
          </a:p>
        </p:txBody>
      </p:sp>
      <p:sp>
        <p:nvSpPr>
          <p:cNvPr id="532" name="Google Shape;532;p48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Heating and cooling runs were fitted separately first. Then we compared an empirical fit with a physical model.</a:t>
            </a:r>
            <a:endParaRPr/>
          </a:p>
        </p:txBody>
      </p:sp>
      <p:sp>
        <p:nvSpPr>
          <p:cNvPr id="533" name="Google Shape;533;p48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Polynomial fit</a:t>
            </a:r>
            <a:endParaRPr/>
          </a:p>
        </p:txBody>
      </p:sp>
      <p:sp>
        <p:nvSpPr>
          <p:cNvPr id="534" name="Google Shape;534;p48"/>
          <p:cNvSpPr txBox="1"/>
          <p:nvPr>
            <p:ph idx="5" type="subTitle"/>
          </p:nvPr>
        </p:nvSpPr>
        <p:spPr>
          <a:xfrm>
            <a:off x="436725" y="3566160"/>
            <a:ext cx="2186400" cy="9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Cubic is best: RMSE 0.35 °C (heating) and 0.55 °C (cooling).</a:t>
            </a:r>
            <a:endParaRPr/>
          </a:p>
        </p:txBody>
      </p:sp>
      <p:sp>
        <p:nvSpPr>
          <p:cNvPr id="535" name="Google Shape;535;p48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/>
              <a:t>NTC β-model</a:t>
            </a:r>
            <a:endParaRPr/>
          </a:p>
        </p:txBody>
      </p:sp>
      <p:sp>
        <p:nvSpPr>
          <p:cNvPr id="536" name="Google Shape;536;p48"/>
          <p:cNvSpPr txBox="1"/>
          <p:nvPr>
            <p:ph idx="7" type="subTitle"/>
          </p:nvPr>
        </p:nvSpPr>
        <p:spPr>
          <a:xfrm>
            <a:off x="3472800" y="3566160"/>
            <a:ext cx="2186400" cy="120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00"/>
              <a:t>ln r vs 1/T is a straight line: β = 3965 K, RMSE 0.60 °C with 2 parameters.</a:t>
            </a:r>
            <a:endParaRPr/>
          </a:p>
        </p:txBody>
      </p:sp>
      <p:sp>
        <p:nvSpPr>
          <p:cNvPr id="537" name="Google Shape;537;p4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48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8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0" name="Google Shape;540;p48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48"/>
          <p:cNvCxnSpPr/>
          <p:nvPr/>
        </p:nvCxnSpPr>
        <p:spPr>
          <a:xfrm>
            <a:off x="-9" y="2764475"/>
            <a:ext cx="59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48"/>
          <p:cNvCxnSpPr/>
          <p:nvPr/>
        </p:nvCxnSpPr>
        <p:spPr>
          <a:xfrm>
            <a:off x="3146975" y="2764475"/>
            <a:ext cx="0" cy="242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48"/>
          <p:cNvSpPr txBox="1"/>
          <p:nvPr>
            <p:ph idx="3" type="subTitle"/>
          </p:nvPr>
        </p:nvSpPr>
        <p:spPr>
          <a:xfrm>
            <a:off x="6446975" y="1289600"/>
            <a:ext cx="2220000" cy="33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3 valid runs: 1 heating, 2 cooling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5319 samples from 0 to 98 °C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12 rows removed: 3 empty, 9 outliers (beyond 2.5σ)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 txBox="1"/>
          <p:nvPr>
            <p:ph type="title"/>
          </p:nvPr>
        </p:nvSpPr>
        <p:spPr>
          <a:xfrm>
            <a:off x="438912" y="566928"/>
            <a:ext cx="310896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Hysteresis?</a:t>
            </a:r>
            <a:endParaRPr/>
          </a:p>
        </p:txBody>
      </p:sp>
      <p:sp>
        <p:nvSpPr>
          <p:cNvPr id="549" name="Google Shape;549;p4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TextBox 551"/>
          <p:cNvSpPr txBox="1"/>
          <p:nvPr/>
        </p:nvSpPr>
        <p:spPr>
          <a:xfrm>
            <a:off x="438912" y="1188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9070E"/>
                </a:solidFill>
                <a:latin typeface="IBM Plex Sans"/>
              </a:rPr>
              <a:t>1.16 °C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38912" y="164592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Largest heating vs cooling gap (mean 0.61 °C)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438912" y="228600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9070E"/>
                </a:solidFill>
                <a:latin typeface="IBM Plex Sans"/>
              </a:rPr>
              <a:t>Likely causes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9070E"/>
                </a:solidFill>
                <a:latin typeface="IBM Plex Sans"/>
              </a:rPr>
              <a:t>Thermal lag between the probes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9070E"/>
                </a:solidFill>
                <a:latin typeface="IBM Plex Sans"/>
              </a:rPr>
              <a:t>Subtracting two cubics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9070E"/>
                </a:solidFill>
                <a:latin typeface="IBM Plex Sans"/>
              </a:rPr>
              <a:t>Bath temperature gradients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438912" y="3931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9070E"/>
                </a:solidFill>
                <a:latin typeface="IBM Plex Sans"/>
              </a:rPr>
              <a:t>The gap is below the reference uncertainty, so we do not claim real hysteresis.</a:t>
            </a:r>
          </a:p>
        </p:txBody>
      </p:sp>
      <p:pic>
        <p:nvPicPr>
          <p:cNvPr id="556" name="Hysteresis figure" descr="Heating vs cooling cubic fits and their differ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777240"/>
            <a:ext cx="4984636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0"/>
          <p:cNvSpPr txBox="1"/>
          <p:nvPr>
            <p:ph type="title"/>
          </p:nvPr>
        </p:nvSpPr>
        <p:spPr>
          <a:xfrm>
            <a:off x="438912" y="566928"/>
            <a:ext cx="265176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Polynomial fit</a:t>
            </a:r>
            <a:endParaRPr/>
          </a:p>
        </p:txBody>
      </p:sp>
      <p:sp>
        <p:nvSpPr>
          <p:cNvPr id="558" name="Google Shape;558;p5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9" name="Google Shape;559;p50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0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TextBox 560"/>
          <p:cNvSpPr txBox="1"/>
          <p:nvPr/>
        </p:nvSpPr>
        <p:spPr>
          <a:xfrm>
            <a:off x="438912" y="10515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9070E"/>
                </a:solidFill>
                <a:latin typeface="IBM Plex Sans"/>
              </a:rPr>
              <a:t>Global cubic: heating and cooling data combined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438912" y="1874519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9070E"/>
                </a:solidFill>
                <a:latin typeface="IBM Plex Sans"/>
              </a:rPr>
              <a:t>2.3 → 0.35 °C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438912" y="23317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Heating RMSE, straight line vs cubic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438912" y="27889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9070E"/>
                </a:solidFill>
                <a:latin typeface="IBM Plex Sans"/>
              </a:rPr>
              <a:t>0.54 °C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438912" y="32461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Global cubic RMSE (N = 5319)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438912" y="37033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9070E"/>
                </a:solidFill>
                <a:latin typeface="IBM Plex Sans"/>
              </a:rPr>
              <a:t>±1.06 °C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438912" y="41605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Mean 95 % prediction half-width</a:t>
            </a:r>
          </a:p>
        </p:txBody>
      </p:sp>
      <p:pic>
        <p:nvPicPr>
          <p:cNvPr id="568" name="Global cubic fit" descr="Global cubic fit with 95 % prediction b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777240"/>
            <a:ext cx="5394960" cy="3576434"/>
          </a:xfrm>
          <a:prstGeom prst="rect">
            <a:avLst/>
          </a:prstGeom>
        </p:spPr>
      </p:pic>
      <p:sp>
        <p:nvSpPr>
          <p:cNvPr id="569" name="TextBox 568"/>
          <p:cNvSpPr txBox="1"/>
          <p:nvPr/>
        </p:nvSpPr>
        <p:spPr>
          <a:xfrm>
            <a:off x="3291840" y="44348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T = 1.869×10</a:t>
            </a:r>
            <a:r>
              <a:rPr sz="1200" b="0" baseline="30000">
                <a:solidFill>
                  <a:srgbClr val="49070E"/>
                </a:solidFill>
                <a:latin typeface="IBM Plex Sans"/>
              </a:rPr>
              <a:t>−7</a:t>
            </a:r>
            <a:r>
              <a:rPr sz="1200" b="0">
                <a:solidFill>
                  <a:srgbClr val="49070E"/>
                </a:solidFill>
                <a:latin typeface="IBM Plex Sans"/>
              </a:rPr>
              <a:t> a³ − 2.495×10</a:t>
            </a:r>
            <a:r>
              <a:rPr sz="1200" b="0" baseline="30000">
                <a:solidFill>
                  <a:srgbClr val="49070E"/>
                </a:solidFill>
                <a:latin typeface="IBM Plex Sans"/>
              </a:rPr>
              <a:t>−4</a:t>
            </a:r>
            <a:r>
              <a:rPr sz="1200" b="0">
                <a:solidFill>
                  <a:srgbClr val="49070E"/>
                </a:solidFill>
                <a:latin typeface="IBM Plex Sans"/>
              </a:rPr>
              <a:t> a² + 0.2134 a − 17.558,  a = ADC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1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β-model validation</a:t>
            </a:r>
            <a:endParaRPr/>
          </a:p>
        </p:txBody>
      </p:sp>
      <p:sp>
        <p:nvSpPr>
          <p:cNvPr id="567" name="Google Shape;567;p5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5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Beta model validation" descr="Arrhenius linear fit and beta-model accurac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7680960" cy="3162748"/>
          </a:xfrm>
          <a:prstGeom prst="rect">
            <a:avLst/>
          </a:prstGeom>
        </p:spPr>
      </p:pic>
      <p:sp>
        <p:nvSpPr>
          <p:cNvPr id="571" name="TextBox 570"/>
          <p:cNvSpPr txBox="1"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9070E"/>
                </a:solidFill>
                <a:latin typeface="IBM Plex Sans"/>
              </a:rPr>
              <a:t>A straight line of ln r vs 1/T gives β = 3965.3 K with R² = 0.9993 and RMSE 0.60 °C, from only two parameters.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NTC β-model: from circuit to temperature</a:t>
            </a:r>
            <a:endParaRPr/>
          </a:p>
        </p:txBody>
      </p:sp>
      <p:sp>
        <p:nvSpPr>
          <p:cNvPr id="549" name="Google Shape;549;p4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Step card 1"/>
          <p:cNvSpPr/>
          <p:nvPr/>
        </p:nvSpPr>
        <p:spPr>
          <a:xfrm>
            <a:off x="502920" y="1325880"/>
            <a:ext cx="1828800" cy="306324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Step badge 1"/>
          <p:cNvSpPr/>
          <p:nvPr/>
        </p:nvSpPr>
        <p:spPr>
          <a:xfrm>
            <a:off x="68580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1F5F8"/>
                </a:solidFill>
                <a:latin typeface="IBM Plex Sans"/>
              </a:rPr>
              <a:t>1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685800" y="20391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490"/>
                </a:solidFill>
                <a:latin typeface="IBM Plex Sans"/>
              </a:rPr>
              <a:t>Divider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685800" y="246888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1F5F8"/>
                </a:solidFill>
                <a:latin typeface="IBM Plex Sans"/>
              </a:rPr>
              <a:t>r = (1023 − ADC) / ADC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685800" y="347472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r = R(NTC) / R(fixed). Supply drift cancels.</a:t>
            </a:r>
          </a:p>
        </p:txBody>
      </p:sp>
      <p:sp>
        <p:nvSpPr>
          <p:cNvPr id="557" name="Arrow 1"/>
          <p:cNvSpPr/>
          <p:nvPr/>
        </p:nvSpPr>
        <p:spPr>
          <a:xfrm>
            <a:off x="2368296" y="2756916"/>
            <a:ext cx="201168" cy="201168"/>
          </a:xfrm>
          <a:prstGeom prst="rightArrow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Step card 2"/>
          <p:cNvSpPr/>
          <p:nvPr/>
        </p:nvSpPr>
        <p:spPr>
          <a:xfrm>
            <a:off x="2606039" y="1325880"/>
            <a:ext cx="1828800" cy="306324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Step badge 2"/>
          <p:cNvSpPr/>
          <p:nvPr/>
        </p:nvSpPr>
        <p:spPr>
          <a:xfrm>
            <a:off x="278892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1F5F8"/>
                </a:solidFill>
                <a:latin typeface="IBM Plex Sans"/>
              </a:rPr>
              <a:t>2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2788920" y="20391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490"/>
                </a:solidFill>
                <a:latin typeface="IBM Plex Sans"/>
              </a:rPr>
              <a:t>Arrhenius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2788920" y="246888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1F5F8"/>
                </a:solidFill>
                <a:latin typeface="IBM Plex Sans"/>
              </a:rPr>
              <a:t>R ∝ exp(β / T)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2788920" y="347472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Carriers jump the band gap: β = Eg / 2kB</a:t>
            </a:r>
          </a:p>
        </p:txBody>
      </p:sp>
      <p:sp>
        <p:nvSpPr>
          <p:cNvPr id="563" name="Arrow 2"/>
          <p:cNvSpPr/>
          <p:nvPr/>
        </p:nvSpPr>
        <p:spPr>
          <a:xfrm>
            <a:off x="4471416" y="2756916"/>
            <a:ext cx="201168" cy="201168"/>
          </a:xfrm>
          <a:prstGeom prst="rightArrow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Step card 3"/>
          <p:cNvSpPr/>
          <p:nvPr/>
        </p:nvSpPr>
        <p:spPr>
          <a:xfrm>
            <a:off x="4709159" y="1325880"/>
            <a:ext cx="1828800" cy="306324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Step badge 3"/>
          <p:cNvSpPr/>
          <p:nvPr/>
        </p:nvSpPr>
        <p:spPr>
          <a:xfrm>
            <a:off x="4892040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1F5F8"/>
                </a:solidFill>
                <a:latin typeface="IBM Plex Sans"/>
              </a:rPr>
              <a:t>3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4892040" y="20391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490"/>
                </a:solidFill>
                <a:latin typeface="IBM Plex Sans"/>
              </a:rPr>
              <a:t>Linear form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4892040" y="246888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1F5F8"/>
                </a:solidFill>
                <a:latin typeface="IBM Plex Sans"/>
              </a:rPr>
              <a:t>ln r = β · (1/T) + c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4892040" y="347472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The slope of ln r vs 1/T gives β</a:t>
            </a:r>
          </a:p>
        </p:txBody>
      </p:sp>
      <p:sp>
        <p:nvSpPr>
          <p:cNvPr id="569" name="Arrow 3"/>
          <p:cNvSpPr/>
          <p:nvPr/>
        </p:nvSpPr>
        <p:spPr>
          <a:xfrm>
            <a:off x="6574536" y="2756916"/>
            <a:ext cx="201168" cy="201168"/>
          </a:xfrm>
          <a:prstGeom prst="rightArrow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Step card 4"/>
          <p:cNvSpPr/>
          <p:nvPr/>
        </p:nvSpPr>
        <p:spPr>
          <a:xfrm>
            <a:off x="6812279" y="1325880"/>
            <a:ext cx="1828800" cy="306324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Step badge 4"/>
          <p:cNvSpPr/>
          <p:nvPr/>
        </p:nvSpPr>
        <p:spPr>
          <a:xfrm>
            <a:off x="6995159" y="1508760"/>
            <a:ext cx="384048" cy="384048"/>
          </a:xfrm>
          <a:prstGeom prst="ellipse">
            <a:avLst/>
          </a:prstGeom>
          <a:solidFill>
            <a:srgbClr val="F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1F5F8"/>
                </a:solidFill>
                <a:latin typeface="IBM Plex Sans"/>
              </a:rPr>
              <a:t>4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6995159" y="20391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C490"/>
                </a:solidFill>
                <a:latin typeface="IBM Plex Sans"/>
              </a:rPr>
              <a:t>Runtime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6995159" y="246888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1F5F8"/>
                </a:solidFill>
                <a:latin typeface="IBM Plex Sans"/>
              </a:rPr>
              <a:t>T = 1 / (A ln r + B) − 273.15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6995159" y="347472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A = 1/β; used on the Arduino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9"/>
          <p:cNvSpPr txBox="1"/>
          <p:nvPr>
            <p:ph type="title"/>
          </p:nvPr>
        </p:nvSpPr>
        <p:spPr>
          <a:xfrm>
            <a:off x="438912" y="566928"/>
            <a:ext cx="2743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Sensitivity</a:t>
            </a:r>
            <a:endParaRPr/>
          </a:p>
        </p:txBody>
      </p:sp>
      <p:sp>
        <p:nvSpPr>
          <p:cNvPr id="549" name="Google Shape;549;p4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0" name="Google Shape;550;p49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9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TextBox 551"/>
          <p:cNvSpPr txBox="1"/>
          <p:nvPr/>
        </p:nvSpPr>
        <p:spPr>
          <a:xfrm>
            <a:off x="438912" y="105156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9070E"/>
                </a:solidFill>
                <a:latin typeface="IBM Plex Sans"/>
              </a:rPr>
              <a:t>dT/dADC in °C per count. Smaller means finer resolution.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38912" y="187451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9070E"/>
                </a:solidFill>
                <a:latin typeface="IBM Plex Sans"/>
              </a:rPr>
              <a:t>≈ 0.10 °C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438912" y="23317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Per count near mid-range (ADC ≈ 440)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438912" y="2880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49070E"/>
                </a:solidFill>
                <a:latin typeface="IBM Plex Sans"/>
              </a:rPr>
              <a:t>0.17–0.25 °C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438912" y="3337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Per count at the ends of the range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38912" y="39319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49070E"/>
                </a:solidFill>
                <a:latin typeface="IBM Plex Sans"/>
              </a:rPr>
              <a:t>Both models agree: best in the middle, coarser at both ends.</a:t>
            </a:r>
          </a:p>
        </p:txBody>
      </p:sp>
      <p:pic>
        <p:nvPicPr>
          <p:cNvPr id="558" name="Sensitivity figure" descr="Sensitivity dT/dADC versus ADC for the cubic and beta mod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822960"/>
            <a:ext cx="5343277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1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Response time: the step test</a:t>
            </a:r>
            <a:endParaRPr/>
          </a:p>
        </p:txBody>
      </p:sp>
      <p:sp>
        <p:nvSpPr>
          <p:cNvPr id="567" name="Google Shape;567;p5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5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Step test log" descr="Thermistor ADC against time during the step t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7863840" cy="2907638"/>
          </a:xfrm>
          <a:prstGeom prst="rect">
            <a:avLst/>
          </a:prstGeom>
        </p:spPr>
      </p:pic>
      <p:sp>
        <p:nvSpPr>
          <p:cNvPr id="571" name="Chip 1"/>
          <p:cNvSpPr/>
          <p:nvPr/>
        </p:nvSpPr>
        <p:spPr>
          <a:xfrm>
            <a:off x="502920" y="40690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TextBox 571"/>
          <p:cNvSpPr txBox="1"/>
          <p:nvPr/>
        </p:nvSpPr>
        <p:spPr>
          <a:xfrm>
            <a:off x="640080" y="4069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1F5F8"/>
                </a:solidFill>
                <a:latin typeface="IBM Plex Sans"/>
              </a:rPr>
              <a:t>NTC moved between room-temperature water and an ice bath</a:t>
            </a:r>
          </a:p>
        </p:txBody>
      </p:sp>
      <p:sp>
        <p:nvSpPr>
          <p:cNvPr id="573" name="Chip 2"/>
          <p:cNvSpPr/>
          <p:nvPr/>
        </p:nvSpPr>
        <p:spPr>
          <a:xfrm>
            <a:off x="3291839" y="40690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3428999" y="4069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1F5F8"/>
                </a:solidFill>
                <a:latin typeface="IBM Plex Sans"/>
              </a:rPr>
              <a:t>3 clean periods kept; 1 spike removed</a:t>
            </a:r>
          </a:p>
        </p:txBody>
      </p:sp>
      <p:sp>
        <p:nvSpPr>
          <p:cNvPr id="575" name="Chip 3"/>
          <p:cNvSpPr/>
          <p:nvPr/>
        </p:nvSpPr>
        <p:spPr>
          <a:xfrm>
            <a:off x="6080759" y="4069080"/>
            <a:ext cx="2560320" cy="73152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TextBox 575"/>
          <p:cNvSpPr txBox="1"/>
          <p:nvPr/>
        </p:nvSpPr>
        <p:spPr>
          <a:xfrm>
            <a:off x="6217920" y="4069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1F5F8"/>
                </a:solidFill>
                <a:latin typeface="IBM Plex Sans"/>
              </a:rPr>
              <a:t>Each step fitted with a delayed first-order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1"/>
          <p:cNvSpPr txBox="1"/>
          <p:nvPr>
            <p:ph type="title"/>
          </p:nvPr>
        </p:nvSpPr>
        <p:spPr>
          <a:xfrm>
            <a:off x="438912" y="566928"/>
            <a:ext cx="786384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/>
              <a:t>Response time: τ from the fit</a:t>
            </a:r>
            <a:endParaRPr/>
          </a:p>
        </p:txBody>
      </p:sp>
      <p:sp>
        <p:nvSpPr>
          <p:cNvPr id="567" name="Google Shape;567;p5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8" name="Google Shape;568;p5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5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Pooled first-order fit" descr="Pooled first-order fit for heating and cooling st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960120"/>
            <a:ext cx="6583680" cy="2721992"/>
          </a:xfrm>
          <a:prstGeom prst="rect">
            <a:avLst/>
          </a:prstGeom>
        </p:spPr>
      </p:pic>
      <p:sp>
        <p:nvSpPr>
          <p:cNvPr id="571" name="TextBox 570"/>
          <p:cNvSpPr txBox="1"/>
          <p:nvPr/>
        </p:nvSpPr>
        <p:spPr>
          <a:xfrm>
            <a:off x="1280160" y="373075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Pooled fit of 3 periods, cubic calibration (β-model: τ = 3.3 s and 8.6 s).</a:t>
            </a:r>
          </a:p>
        </p:txBody>
      </p:sp>
      <p:sp>
        <p:nvSpPr>
          <p:cNvPr id="572" name="Result chip 1"/>
          <p:cNvSpPr/>
          <p:nvPr/>
        </p:nvSpPr>
        <p:spPr>
          <a:xfrm>
            <a:off x="548640" y="411480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TextBox 572"/>
          <p:cNvSpPr txBox="1"/>
          <p:nvPr/>
        </p:nvSpPr>
        <p:spPr>
          <a:xfrm>
            <a:off x="658368" y="4169663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C490"/>
                </a:solidFill>
                <a:latin typeface="IBM Plex Sans"/>
              </a:rPr>
              <a:t>3.5 s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658368" y="4535424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τ heating, ±0.3 s</a:t>
            </a:r>
          </a:p>
        </p:txBody>
      </p:sp>
      <p:sp>
        <p:nvSpPr>
          <p:cNvPr id="575" name="Result chip 2"/>
          <p:cNvSpPr/>
          <p:nvPr/>
        </p:nvSpPr>
        <p:spPr>
          <a:xfrm>
            <a:off x="2606040" y="411480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TextBox 575"/>
          <p:cNvSpPr txBox="1"/>
          <p:nvPr/>
        </p:nvSpPr>
        <p:spPr>
          <a:xfrm>
            <a:off x="2715768" y="4169663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C490"/>
                </a:solidFill>
                <a:latin typeface="IBM Plex Sans"/>
              </a:rPr>
              <a:t>7.7 s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2715768" y="4535424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τ cooling, ±2.2 s</a:t>
            </a:r>
          </a:p>
        </p:txBody>
      </p:sp>
      <p:sp>
        <p:nvSpPr>
          <p:cNvPr id="578" name="Result chip 3"/>
          <p:cNvSpPr/>
          <p:nvPr/>
        </p:nvSpPr>
        <p:spPr>
          <a:xfrm>
            <a:off x="4663440" y="411480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TextBox 578"/>
          <p:cNvSpPr txBox="1"/>
          <p:nvPr/>
        </p:nvSpPr>
        <p:spPr>
          <a:xfrm>
            <a:off x="4773168" y="4169663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C490"/>
                </a:solidFill>
                <a:latin typeface="IBM Plex Sans"/>
              </a:rPr>
              <a:t>7.8 | 16.8 s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4773168" y="4535424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10–90 % time, heating | cooling</a:t>
            </a:r>
          </a:p>
        </p:txBody>
      </p:sp>
      <p:sp>
        <p:nvSpPr>
          <p:cNvPr id="581" name="Result chip 4"/>
          <p:cNvSpPr/>
          <p:nvPr/>
        </p:nvSpPr>
        <p:spPr>
          <a:xfrm>
            <a:off x="6720840" y="4114800"/>
            <a:ext cx="1874519" cy="822960"/>
          </a:xfrm>
          <a:prstGeom prst="roundRect">
            <a:avLst>
              <a:gd name="adj" fmla="val 8000"/>
            </a:avLst>
          </a:prstGeom>
          <a:solidFill>
            <a:srgbClr val="490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6830568" y="4169663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C490"/>
                </a:solidFill>
                <a:latin typeface="IBM Plex Sans"/>
              </a:rPr>
              <a:t>0.47 | 0.92 °C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6830568" y="4535424"/>
            <a:ext cx="16550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1F5F8"/>
                </a:solidFill>
                <a:latin typeface="IBM Plex Sans"/>
              </a:rPr>
              <a:t>Fit RMSE, heating | cooling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47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497" name="Google Shape;497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8" name="Google Shape;498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9" name="Google Shape;499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0" name="Google Shape;500;p47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501" name="Google Shape;501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2" name="Google Shape;502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" name="Google Shape;503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4" name="Google Shape;504;p47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505" name="Google Shape;505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8" name="Google Shape;508;p47"/>
          <p:cNvGrpSpPr/>
          <p:nvPr/>
        </p:nvGrpSpPr>
        <p:grpSpPr>
          <a:xfrm>
            <a:off x="4970338" y="3912818"/>
            <a:ext cx="644025" cy="121200"/>
            <a:chOff x="5238750" y="1016375"/>
            <a:chExt cx="644025" cy="121200"/>
          </a:xfrm>
        </p:grpSpPr>
        <p:cxnSp>
          <p:nvCxnSpPr>
            <p:cNvPr id="509" name="Google Shape;509;p47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47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47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2" name="Google Shape;512;p47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Uncertainty</a:t>
            </a:r>
            <a:endParaRPr/>
          </a:p>
        </p:txBody>
      </p:sp>
      <p:sp>
        <p:nvSpPr>
          <p:cNvPr id="513" name="Google Shape;513;p47"/>
          <p:cNvSpPr txBox="1"/>
          <p:nvPr>
            <p:ph type="title"/>
          </p:nvPr>
        </p:nvSpPr>
        <p:spPr>
          <a:xfrm>
            <a:off x="436725" y="1231825"/>
            <a:ext cx="23019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Error Analysis</a:t>
            </a:r>
            <a:endParaRPr/>
          </a:p>
        </p:txBody>
      </p:sp>
      <p:sp>
        <p:nvSpPr>
          <p:cNvPr id="514" name="Google Shape;514;p47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Reference</a:t>
            </a:r>
            <a:endParaRPr/>
          </a:p>
        </p:txBody>
      </p:sp>
      <p:sp>
        <p:nvSpPr>
          <p:cNvPr id="515" name="Google Shape;515;p47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DS18B20 is ±0.5 °C. We assume about ±1 °C in practice, so smaller errors cannot be proven.</a:t>
            </a:r>
            <a:endParaRPr sz="1200"/>
          </a:p>
        </p:txBody>
      </p:sp>
      <p:sp>
        <p:nvSpPr>
          <p:cNvPr id="516" name="Google Shape;516;p47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ADC steps</a:t>
            </a:r>
            <a:endParaRPr/>
          </a:p>
        </p:txBody>
      </p:sp>
      <p:sp>
        <p:nvSpPr>
          <p:cNvPr id="517" name="Google Shape;517;p47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10-bit ADC: each count is 0.10 to 0.25 °C, coarsest at both ends of the range.</a:t>
            </a:r>
            <a:endParaRPr sz="1200"/>
          </a:p>
        </p:txBody>
      </p:sp>
      <p:sp>
        <p:nvSpPr>
          <p:cNvPr id="518" name="Google Shape;518;p47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Fit</a:t>
            </a:r>
            <a:endParaRPr/>
          </a:p>
        </p:txBody>
      </p:sp>
      <p:sp>
        <p:nvSpPr>
          <p:cNvPr id="519" name="Google Shape;519;p47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RMSE 0.54 °C (cubic), 0.60 °C (β-model). Residuals are correlated, so standard errors are optimistic.</a:t>
            </a:r>
            <a:endParaRPr sz="1200"/>
          </a:p>
        </p:txBody>
      </p:sp>
      <p:sp>
        <p:nvSpPr>
          <p:cNvPr id="520" name="Google Shape;520;p47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/>
              <a:t>Process</a:t>
            </a:r>
            <a:endParaRPr/>
          </a:p>
        </p:txBody>
      </p:sp>
      <p:sp>
        <p:nvSpPr>
          <p:cNvPr id="521" name="Google Shape;521;p47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Thermal lag and bath gradients. Self-heating was not quantified. Only 3 usable runs, 0–98 °C.</a:t>
            </a:r>
            <a:endParaRPr sz="1200"/>
          </a:p>
        </p:txBody>
      </p:sp>
      <p:sp>
        <p:nvSpPr>
          <p:cNvPr id="522" name="Google Shape;522;p4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47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7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TextBox 524"/>
          <p:cNvSpPr txBox="1"/>
          <p:nvPr/>
        </p:nvSpPr>
        <p:spPr>
          <a:xfrm>
            <a:off x="438912" y="24688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49070E"/>
                </a:solidFill>
                <a:latin typeface="IBM Plex Sans"/>
              </a:rPr>
              <a:t>±1.06 °C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438912" y="29260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9070E"/>
                </a:solidFill>
                <a:latin typeface="IBM Plex Sans"/>
              </a:rPr>
              <a:t>Mean 95 % prediction half-width of the global cubic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 txBox="1"/>
          <p:nvPr>
            <p:ph idx="1" type="subTitle"/>
          </p:nvPr>
        </p:nvSpPr>
        <p:spPr>
          <a:xfrm>
            <a:off x="436850" y="1874519"/>
            <a:ext cx="2347200" cy="256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Two models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Cubic: 4 parameters, RMSE 0.54 °C. β-model: 2 parameters, RMSE 0.60 °C. Both are within the ±1 °C reference.</a:t>
            </a:r>
          </a:p>
        </p:txBody>
      </p:sp>
      <p:sp>
        <p:nvSpPr>
          <p:cNvPr id="483" name="Google Shape;483;p46"/>
          <p:cNvSpPr txBox="1"/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Discussion and conclusion</a:t>
            </a:r>
            <a:endParaRPr/>
          </a:p>
        </p:txBody>
      </p:sp>
      <p:sp>
        <p:nvSpPr>
          <p:cNvPr id="484" name="Google Shape;484;p46"/>
          <p:cNvSpPr txBox="1"/>
          <p:nvPr>
            <p:ph idx="2" type="subTitle"/>
          </p:nvPr>
        </p:nvSpPr>
        <p:spPr>
          <a:xfrm>
            <a:off x="3547650" y="1874519"/>
            <a:ext cx="2144400" cy="256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Dynamics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τ ≈ 3.5 s heating, 7.7 s cooling. The heating/cooling gap (about 0.6 °C) is below the reference uncertainty.</a:t>
            </a:r>
          </a:p>
        </p:txBody>
      </p:sp>
      <p:sp>
        <p:nvSpPr>
          <p:cNvPr id="485" name="Google Shape;485;p46"/>
          <p:cNvSpPr txBox="1"/>
          <p:nvPr>
            <p:ph idx="3" type="subTitle"/>
          </p:nvPr>
        </p:nvSpPr>
        <p:spPr>
          <a:xfrm>
            <a:off x="6475350" y="1874519"/>
            <a:ext cx="2291400" cy="256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/>
              <a:t>Recommendation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Use the β-model as the main calibration. Keep the cubic for the lowest error inside 0 to 98 °C.</a:t>
            </a:r>
          </a:p>
        </p:txBody>
      </p:sp>
      <p:sp>
        <p:nvSpPr>
          <p:cNvPr id="486" name="Google Shape;486;p4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8/10/2026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Calibrating Temperature Sensors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9" name="Google Shape;489;p46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46"/>
          <p:cNvCxnSpPr/>
          <p:nvPr/>
        </p:nvCxnSpPr>
        <p:spPr>
          <a:xfrm>
            <a:off x="60837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6"/>
          <p:cNvCxnSpPr/>
          <p:nvPr/>
        </p:nvCxnSpPr>
        <p:spPr>
          <a:xfrm>
            <a:off x="3156000" y="1797925"/>
            <a:ext cx="0" cy="3345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